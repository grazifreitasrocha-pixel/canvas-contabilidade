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2A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5303520"/>
            <a:ext cx="12188952" cy="1554480"/>
          </a:xfrm>
          <a:prstGeom prst="rect">
            <a:avLst/>
          </a:prstGeom>
          <a:solidFill>
            <a:srgbClr val="1A4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D2AE6D"/>
                </a:solidFill>
                <a:latin typeface="Calibri"/>
              </a:rPr>
              <a:t>CANVAS CONTABILIDADE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7315200" cy="38100"/>
          </a:xfrm>
          <a:prstGeom prst="rect">
            <a:avLst/>
          </a:prstGeom>
          <a:solidFill>
            <a:srgbClr val="D2A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Como economizar impostos
de forma legal e estratégica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D2AE6D"/>
                </a:solidFill>
                <a:latin typeface="Calibri"/>
              </a:rPr>
              <a:t>Apresentação para Empresários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77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AC5"/>
                </a:solidFill>
                <a:latin typeface="Calibri"/>
              </a:rPr>
              <a:t>Grazielle Freitas  |  grazifreitasrocha@gmail.com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2A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2AE6D"/>
                </a:solidFill>
                <a:latin typeface="Calibri"/>
              </a:rP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8686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Você está pagando mais
impostos do que deveria?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651760"/>
            <a:ext cx="5486400" cy="38100"/>
          </a:xfrm>
          <a:prstGeom prst="rect">
            <a:avLst/>
          </a:prstGeom>
          <a:solidFill>
            <a:srgbClr val="D2A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D2AE6D"/>
                </a:solidFill>
                <a:latin typeface="Calibri"/>
              </a:rPr>
              <a:t>● </a:t>
            </a:r>
            <a:r>
              <a:rPr sz="1700">
                <a:solidFill>
                  <a:srgbClr val="FFFFFF"/>
                </a:solidFill>
                <a:latin typeface="Calibri"/>
              </a:rPr>
              <a:t>O Brasil tem mais de 90 tributos diferentes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D2AE6D"/>
                </a:solidFill>
                <a:latin typeface="Calibri"/>
              </a:rPr>
              <a:t>● </a:t>
            </a:r>
            <a:r>
              <a:rPr sz="1700">
                <a:solidFill>
                  <a:srgbClr val="FFFFFF"/>
                </a:solidFill>
                <a:latin typeface="Calibri"/>
              </a:rPr>
              <a:t>Empresários pagam em média 34% do faturamento em impostos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D2AE6D"/>
                </a:solidFill>
                <a:latin typeface="Calibri"/>
              </a:rPr>
              <a:t>● </a:t>
            </a:r>
            <a:r>
              <a:rPr sz="1700">
                <a:solidFill>
                  <a:srgbClr val="FFFFFF"/>
                </a:solidFill>
                <a:latin typeface="Calibri"/>
              </a:rPr>
              <a:t>Muitos estão no regime tributário errado para seu negócio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D2AE6D"/>
                </a:solidFill>
                <a:latin typeface="Calibri"/>
              </a:rPr>
              <a:t>● </a:t>
            </a:r>
            <a:r>
              <a:rPr sz="1700">
                <a:solidFill>
                  <a:srgbClr val="FFFFFF"/>
                </a:solidFill>
                <a:latin typeface="Calibri"/>
              </a:rPr>
              <a:t>Planejamento tributário ainda é visto como privilégio de grandes empresas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914400"/>
            <a:ext cx="3840480" cy="1645920"/>
          </a:xfrm>
          <a:prstGeom prst="rect">
            <a:avLst/>
          </a:prstGeom>
          <a:solidFill>
            <a:srgbClr val="D2A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960120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4A42"/>
                </a:solidFill>
                <a:latin typeface="Calibri"/>
              </a:rPr>
              <a:t>34%
do faturamento
em impostos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2188952" cy="1005840"/>
          </a:xfrm>
          <a:prstGeom prst="rect">
            <a:avLst/>
          </a:prstGeom>
          <a:solidFill>
            <a:srgbClr val="25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POR QUE ISSO ACONTECE?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394960" cy="2011680"/>
          </a:xfrm>
          <a:prstGeom prst="rect">
            <a:avLst/>
          </a:prstGeom>
          <a:solidFill>
            <a:srgbClr val="25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2AE6D"/>
                </a:solidFill>
                <a:latin typeface="Calibri"/>
              </a:rPr>
              <a:t>📌 Regime errado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Simples, Lucro Presumido ou Real — a escolha incorreta
pode custar milhares por ano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394960" cy="2011680"/>
          </a:xfrm>
          <a:prstGeom prst="rect">
            <a:avLst/>
          </a:prstGeom>
          <a:solidFill>
            <a:srgbClr val="25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2AE6D"/>
                </a:solidFill>
                <a:latin typeface="Calibri"/>
              </a:rPr>
              <a:t>📌 Falta de planejamento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Sem análise prévia, a empresa paga mais do que
a lei exige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57600"/>
            <a:ext cx="5394960" cy="2011680"/>
          </a:xfrm>
          <a:prstGeom prst="rect">
            <a:avLst/>
          </a:prstGeom>
          <a:solidFill>
            <a:srgbClr val="25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2AE6D"/>
                </a:solidFill>
                <a:latin typeface="Calibri"/>
              </a:rPr>
              <a:t>📌 Contabilidade reativa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519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Apenas registrar o que aconteceu não basta.
É preciso estratégia antecipada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657600"/>
            <a:ext cx="5394960" cy="2011680"/>
          </a:xfrm>
          <a:prstGeom prst="rect">
            <a:avLst/>
          </a:prstGeom>
          <a:solidFill>
            <a:srgbClr val="25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794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2AE6D"/>
                </a:solidFill>
                <a:latin typeface="Calibri"/>
              </a:rPr>
              <a:t>📌 Desconhecimento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2519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Existem dezenas de benefícios fiscais legais
que a maioria dos empresários ignora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2A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2AE6D"/>
                </a:solidFill>
                <a:latin typeface="Calibri"/>
              </a:rPr>
              <a:t>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Planejamento Tributário
Estratégico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651760"/>
            <a:ext cx="5029200" cy="38100"/>
          </a:xfrm>
          <a:prstGeom prst="rect">
            <a:avLst/>
          </a:prstGeom>
          <a:solidFill>
            <a:srgbClr val="D2A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Com a orientação certa, sua empresa pode reduzir
a carga tributária legalmente, aproveitando todos
os incentivos e escolhas de regime disponíveis.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097280"/>
            <a:ext cx="3657600" cy="4114800"/>
          </a:xfrm>
          <a:prstGeom prst="rect">
            <a:avLst/>
          </a:prstGeom>
          <a:solidFill>
            <a:srgbClr val="D2A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28016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4A42"/>
                </a:solidFill>
                <a:latin typeface="Calibri"/>
              </a:rPr>
              <a:t>Economia
de até
30%
na carga
tributária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2188952" cy="1005840"/>
          </a:xfrm>
          <a:prstGeom prst="rect">
            <a:avLst/>
          </a:prstGeom>
          <a:solidFill>
            <a:srgbClr val="25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COMO A CANVAS CONTABILIDADE AJUDA VOCÊ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148840" cy="5029200"/>
          </a:xfrm>
          <a:prstGeom prst="rect">
            <a:avLst/>
          </a:prstGeom>
          <a:solidFill>
            <a:srgbClr val="25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48840"/>
            <a:ext cx="1463040" cy="25400"/>
          </a:xfrm>
          <a:prstGeom prst="rect">
            <a:avLst/>
          </a:prstGeom>
          <a:solidFill>
            <a:srgbClr val="D2A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2AE6D"/>
                </a:solidFill>
                <a:latin typeface="Calibri"/>
              </a:rPr>
              <a:t>Diagnóstico
Tributário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Análise completa do
seu regime atual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188720"/>
            <a:ext cx="2148840" cy="5029200"/>
          </a:xfrm>
          <a:prstGeom prst="rect">
            <a:avLst/>
          </a:prstGeom>
          <a:solidFill>
            <a:srgbClr val="25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463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2148840"/>
            <a:ext cx="1463040" cy="25400"/>
          </a:xfrm>
          <a:prstGeom prst="rect">
            <a:avLst/>
          </a:prstGeom>
          <a:solidFill>
            <a:srgbClr val="D2A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2860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2AE6D"/>
                </a:solidFill>
                <a:latin typeface="Calibri"/>
              </a:rPr>
              <a:t>Escolha do
Melhor Regime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20040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Simples, Presumido
ou Real — o ideal
para seu negócio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1188720"/>
            <a:ext cx="2148840" cy="5029200"/>
          </a:xfrm>
          <a:prstGeom prst="rect">
            <a:avLst/>
          </a:prstGeom>
          <a:solidFill>
            <a:srgbClr val="25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1463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60" y="2148840"/>
            <a:ext cx="1463040" cy="25400"/>
          </a:xfrm>
          <a:prstGeom prst="rect">
            <a:avLst/>
          </a:prstGeom>
          <a:solidFill>
            <a:srgbClr val="D2A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22860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2AE6D"/>
                </a:solidFill>
                <a:latin typeface="Calibri"/>
              </a:rPr>
              <a:t>Recuperação
de Créditos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20040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Identificação de
tributos pagos
a mais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52359" y="1188720"/>
            <a:ext cx="2148840" cy="5029200"/>
          </a:xfrm>
          <a:prstGeom prst="rect">
            <a:avLst/>
          </a:prstGeom>
          <a:solidFill>
            <a:srgbClr val="25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799" y="1463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79" y="2148840"/>
            <a:ext cx="1463040" cy="25400"/>
          </a:xfrm>
          <a:prstGeom prst="rect">
            <a:avLst/>
          </a:prstGeom>
          <a:solidFill>
            <a:srgbClr val="D2A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799" y="22860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2AE6D"/>
                </a:solidFill>
                <a:latin typeface="Calibri"/>
              </a:rPr>
              <a:t>Planejamento
Anual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799" y="320040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Estratégia fiscal
para o ano todo
com antecedência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1188720"/>
            <a:ext cx="2148840" cy="5029200"/>
          </a:xfrm>
          <a:prstGeom prst="rect">
            <a:avLst/>
          </a:prstGeom>
          <a:solidFill>
            <a:srgbClr val="25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14630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0" y="2148840"/>
            <a:ext cx="1463040" cy="25400"/>
          </a:xfrm>
          <a:prstGeom prst="rect">
            <a:avLst/>
          </a:prstGeom>
          <a:solidFill>
            <a:srgbClr val="D2A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0" y="22860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2AE6D"/>
                </a:solidFill>
                <a:latin typeface="Calibri"/>
              </a:rPr>
              <a:t>Consultoria
Continuada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320040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Suporte constante
para decisões
que impactam impostos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2A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2AE6D"/>
                </a:solidFill>
                <a:latin typeface="Calibri"/>
              </a:rPr>
              <a:t>RESULTADOS REAIS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 que nossos clientes conquistaram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4572000" cy="38100"/>
          </a:xfrm>
          <a:prstGeom prst="rect">
            <a:avLst/>
          </a:prstGeom>
          <a:solidFill>
            <a:srgbClr val="D2A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2560320" cy="2103120"/>
          </a:xfrm>
          <a:prstGeom prst="rect">
            <a:avLst/>
          </a:prstGeom>
          <a:solidFill>
            <a:srgbClr val="1A4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2AE6D"/>
                </a:solidFill>
                <a:latin typeface="Calibri"/>
              </a:rPr>
              <a:t>R$ 28 mil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108960"/>
            <a:ext cx="1828800" cy="25400"/>
          </a:xfrm>
          <a:prstGeom prst="rect">
            <a:avLst/>
          </a:prstGeom>
          <a:solidFill>
            <a:srgbClr val="D2A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economizados/ano
por comércio varejista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2103120"/>
            <a:ext cx="2560320" cy="2103120"/>
          </a:xfrm>
          <a:prstGeom prst="rect">
            <a:avLst/>
          </a:prstGeom>
          <a:solidFill>
            <a:srgbClr val="1A4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79" y="22860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2AE6D"/>
                </a:solidFill>
                <a:latin typeface="Calibri"/>
              </a:rPr>
              <a:t>27%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199" y="3108960"/>
            <a:ext cx="1828800" cy="25400"/>
          </a:xfrm>
          <a:prstGeom prst="rect">
            <a:avLst/>
          </a:prstGeom>
          <a:solidFill>
            <a:srgbClr val="D2A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79" y="3246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de redução de
carga tributária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103120"/>
            <a:ext cx="2560320" cy="2103120"/>
          </a:xfrm>
          <a:prstGeom prst="rect">
            <a:avLst/>
          </a:prstGeom>
          <a:solidFill>
            <a:srgbClr val="1A4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2AE6D"/>
                </a:solidFill>
                <a:latin typeface="Calibri"/>
              </a:rPr>
              <a:t>+200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3108960"/>
            <a:ext cx="1828800" cy="25400"/>
          </a:xfrm>
          <a:prstGeom prst="rect">
            <a:avLst/>
          </a:prstGeom>
          <a:solidFill>
            <a:srgbClr val="D2A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246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clientes atendidos
com planejamento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59" y="2103120"/>
            <a:ext cx="2560320" cy="2103120"/>
          </a:xfrm>
          <a:prstGeom prst="rect">
            <a:avLst/>
          </a:prstGeom>
          <a:solidFill>
            <a:srgbClr val="1A4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599" y="22860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2AE6D"/>
                </a:solidFill>
                <a:latin typeface="Calibri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46919" y="3108960"/>
            <a:ext cx="1828800" cy="25400"/>
          </a:xfrm>
          <a:prstGeom prst="rect">
            <a:avLst/>
          </a:prstGeom>
          <a:solidFill>
            <a:srgbClr val="D2A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599" y="3246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dentro da
legalidade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AC5"/>
                </a:solidFill>
                <a:latin typeface="Calibri"/>
              </a:rPr>
              <a:t>"A Canvas identificou que estávamos no regime errado há 3 anos.
Economizamos R$ 28 mil só no primeiro ano de ajuste." — Cliente Canvas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2188952" cy="1005840"/>
          </a:xfrm>
          <a:prstGeom prst="rect">
            <a:avLst/>
          </a:prstGeom>
          <a:solidFill>
            <a:srgbClr val="25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COMO FUNCIONA NA PRÁTICA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280160"/>
            <a:ext cx="731520" cy="731520"/>
          </a:xfrm>
          <a:prstGeom prst="rect">
            <a:avLst/>
          </a:prstGeom>
          <a:solidFill>
            <a:srgbClr val="D2A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2801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4A42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2651760" cy="4114800"/>
          </a:xfrm>
          <a:prstGeom prst="rect">
            <a:avLst/>
          </a:prstGeom>
          <a:solidFill>
            <a:srgbClr val="25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2AE6D"/>
                </a:solidFill>
                <a:latin typeface="Calibri"/>
              </a:rPr>
              <a:t>Diagnóstico
Gratuito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200400"/>
            <a:ext cx="1737360" cy="25400"/>
          </a:xfrm>
          <a:prstGeom prst="rect">
            <a:avLst/>
          </a:prstGeom>
          <a:solidFill>
            <a:srgbClr val="D2A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Análise sem compromisso
da situação atual
da sua empresa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926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2AE6D"/>
                </a:solidFill>
                <a:latin typeface="Calibri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78808" y="1280160"/>
            <a:ext cx="731520" cy="731520"/>
          </a:xfrm>
          <a:prstGeom prst="rect">
            <a:avLst/>
          </a:prstGeom>
          <a:solidFill>
            <a:srgbClr val="D2A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8808" y="12801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4A42"/>
                </a:solidFill>
                <a:latin typeface="Calibr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47288" y="2194560"/>
            <a:ext cx="2651760" cy="4114800"/>
          </a:xfrm>
          <a:prstGeom prst="rect">
            <a:avLst/>
          </a:prstGeom>
          <a:solidFill>
            <a:srgbClr val="25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2860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2AE6D"/>
                </a:solidFill>
                <a:latin typeface="Calibri"/>
              </a:rPr>
              <a:t>Proposta
Personalizada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04488" y="3200400"/>
            <a:ext cx="1737360" cy="25400"/>
          </a:xfrm>
          <a:prstGeom prst="rect">
            <a:avLst/>
          </a:prstGeom>
          <a:solidFill>
            <a:srgbClr val="D2A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8728" y="338328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Elaboramos um plano
tributário sob medida
para o seu negócio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2926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2AE6D"/>
                </a:solidFill>
                <a:latin typeface="Calibri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77456" y="1280160"/>
            <a:ext cx="731520" cy="731520"/>
          </a:xfrm>
          <a:prstGeom prst="rect">
            <a:avLst/>
          </a:prstGeom>
          <a:solidFill>
            <a:srgbClr val="D2A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77456" y="12801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4A42"/>
                </a:solidFill>
                <a:latin typeface="Calibri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2194560"/>
            <a:ext cx="2651760" cy="4114800"/>
          </a:xfrm>
          <a:prstGeom prst="rect">
            <a:avLst/>
          </a:prstGeom>
          <a:solidFill>
            <a:srgbClr val="25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7376" y="22860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2AE6D"/>
                </a:solidFill>
                <a:latin typeface="Calibri"/>
              </a:rPr>
              <a:t>Implementação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03136" y="3200400"/>
            <a:ext cx="1737360" cy="25400"/>
          </a:xfrm>
          <a:prstGeom prst="rect">
            <a:avLst/>
          </a:prstGeom>
          <a:solidFill>
            <a:srgbClr val="D2A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338328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Executamos todas as
adequações e ajustes
necessários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9260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2AE6D"/>
                </a:solidFill>
                <a:latin typeface="Calibri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76104" y="1280160"/>
            <a:ext cx="731520" cy="731520"/>
          </a:xfrm>
          <a:prstGeom prst="rect">
            <a:avLst/>
          </a:prstGeom>
          <a:solidFill>
            <a:srgbClr val="D2A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76104" y="12801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4A42"/>
                </a:solidFill>
                <a:latin typeface="Calibri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44584" y="2194560"/>
            <a:ext cx="2651760" cy="4114800"/>
          </a:xfrm>
          <a:prstGeom prst="rect">
            <a:avLst/>
          </a:prstGeom>
          <a:solidFill>
            <a:srgbClr val="25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36024" y="22860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2AE6D"/>
                </a:solidFill>
                <a:latin typeface="Calibri"/>
              </a:rPr>
              <a:t>Monitoramento
Contínuo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01784" y="3200400"/>
            <a:ext cx="1737360" cy="25400"/>
          </a:xfrm>
          <a:prstGeom prst="rect">
            <a:avLst/>
          </a:prstGeom>
          <a:solidFill>
            <a:srgbClr val="D2A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36024" y="338328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Acompanhamento mensal
garantindo os resultados
ao longo do ano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2A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2AE6D"/>
                </a:solidFill>
                <a:latin typeface="Calibri"/>
              </a:rPr>
              <a:t>PRÓXIMO 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Agende uma
Consultoria Gratuita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017520"/>
            <a:ext cx="5029200" cy="38100"/>
          </a:xfrm>
          <a:prstGeom prst="rect">
            <a:avLst/>
          </a:prstGeom>
          <a:solidFill>
            <a:srgbClr val="D2A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Em 30 minutos, identificamos oportunidades reais
de economia fiscal para o seu negócio.
Sem compromisso, sem custo.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097280"/>
            <a:ext cx="4114800" cy="4114800"/>
          </a:xfrm>
          <a:prstGeom prst="rect">
            <a:avLst/>
          </a:prstGeom>
          <a:solidFill>
            <a:srgbClr val="D2A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280160"/>
            <a:ext cx="3840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4A42"/>
                </a:solidFill>
                <a:latin typeface="Calibri"/>
              </a:rPr>
              <a:t>📱 WhatsApp
grazifreitasrocha
@gmail.com
CANVAS
CONTABILIDADE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217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AC5"/>
                </a:solidFill>
                <a:latin typeface="Calibri"/>
              </a:rPr>
              <a:t>Grazielle Freitas  —  Canvas Contabilidade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